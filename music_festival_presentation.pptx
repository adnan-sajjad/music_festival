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1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Magnetic Fields Rajasthan</c:v>
                  </c:pt>
                  <c:pt idx="1">
                    <c:v>Goa Tribal Festival</c:v>
                  </c:pt>
                  <c:pt idx="2">
                    <c:v>Supersonic Bengaluru</c:v>
                  </c:pt>
                  <c:pt idx="3">
                    <c:v>VH1 Supersonic Delhi</c:v>
                  </c:pt>
                  <c:pt idx="4">
                    <c:v>Lollapalooza Mumbai</c:v>
                  </c:pt>
                  <c:pt idx="5">
                    <c:v>Bollywood Music Project</c:v>
                  </c:pt>
                  <c:pt idx="6">
                    <c:v>Sunburn Goa</c:v>
                  </c:pt>
                  <c:pt idx="7">
                    <c:v>NH7 Pune</c:v>
                  </c:pt>
                  <c:pt idx="8">
                    <c:v>Hornbill Festival Nagaland</c:v>
                  </c:pt>
                  <c:pt idx="9">
                    <c:v>Ziro Festival Arunachal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41.7</c:v>
                </c:pt>
                <c:pt idx="1">
                  <c:v>43.1</c:v>
                </c:pt>
                <c:pt idx="2">
                  <c:v>46.9</c:v>
                </c:pt>
                <c:pt idx="3">
                  <c:v>49.6</c:v>
                </c:pt>
                <c:pt idx="4">
                  <c:v>61.3</c:v>
                </c:pt>
                <c:pt idx="5">
                  <c:v>80.8</c:v>
                </c:pt>
                <c:pt idx="6">
                  <c:v>84</c:v>
                </c:pt>
                <c:pt idx="7">
                  <c:v>92.5</c:v>
                </c:pt>
                <c:pt idx="8">
                  <c:v>98.4</c:v>
                </c:pt>
                <c:pt idx="9">
                  <c:v>115.8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1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1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8E8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Revenue (₹ Crore)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1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Goa</c:v>
                  </c:pt>
                  <c:pt idx="1">
                    <c:v>Jaipur</c:v>
                  </c:pt>
                  <c:pt idx="2">
                    <c:v>Nagpur</c:v>
                  </c:pt>
                  <c:pt idx="3">
                    <c:v>Delhi</c:v>
                  </c:pt>
                  <c:pt idx="4">
                    <c:v>Pune</c:v>
                  </c:pt>
                  <c:pt idx="5">
                    <c:v>Bengaluru</c:v>
                  </c:pt>
                  <c:pt idx="6">
                    <c:v>Kolkata</c:v>
                  </c:pt>
                  <c:pt idx="7">
                    <c:v>Chandigarh</c:v>
                  </c:pt>
                  <c:pt idx="8">
                    <c:v>Amritsar</c:v>
                  </c:pt>
                  <c:pt idx="9">
                    <c:v>Mumbai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113.5</c:v>
                </c:pt>
                <c:pt idx="1">
                  <c:v>110.4</c:v>
                </c:pt>
                <c:pt idx="2">
                  <c:v>105.8</c:v>
                </c:pt>
                <c:pt idx="3">
                  <c:v>93.7</c:v>
                </c:pt>
                <c:pt idx="4">
                  <c:v>70.5</c:v>
                </c:pt>
                <c:pt idx="5">
                  <c:v>63.4</c:v>
                </c:pt>
                <c:pt idx="6">
                  <c:v>63.4</c:v>
                </c:pt>
                <c:pt idx="7">
                  <c:v>38.8</c:v>
                </c:pt>
                <c:pt idx="8">
                  <c:v>37.4</c:v>
                </c:pt>
                <c:pt idx="9">
                  <c:v>17.2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1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21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8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Revenue (₹ Crore)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E21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Ed Sheeran</c:v>
                  </c:pt>
                  <c:pt idx="1">
                    <c:v>Martin Garrix</c:v>
                  </c:pt>
                  <c:pt idx="2">
                    <c:v>Mika Singh</c:v>
                  </c:pt>
                  <c:pt idx="3">
                    <c:v>Diljit Dosanjh</c:v>
                  </c:pt>
                  <c:pt idx="4">
                    <c:v>Arijit Singh</c:v>
                  </c:pt>
                  <c:pt idx="5">
                    <c:v>Shreya Ghoshal</c:v>
                  </c:pt>
                  <c:pt idx="6">
                    <c:v>DJ Snake</c:v>
                  </c:pt>
                  <c:pt idx="7">
                    <c:v>Bryan Adams</c:v>
                  </c:pt>
                  <c:pt idx="8">
                    <c:v>Badshah</c:v>
                  </c:pt>
                  <c:pt idx="9">
                    <c:v>Honey Singh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19.3</c:v>
                </c:pt>
                <c:pt idx="1">
                  <c:v>38.4</c:v>
                </c:pt>
                <c:pt idx="2">
                  <c:v>65.8</c:v>
                </c:pt>
                <c:pt idx="3">
                  <c:v>66.3</c:v>
                </c:pt>
                <c:pt idx="4">
                  <c:v>69.9</c:v>
                </c:pt>
                <c:pt idx="5">
                  <c:v>70.8</c:v>
                </c:pt>
                <c:pt idx="6">
                  <c:v>77.5</c:v>
                </c:pt>
                <c:pt idx="7">
                  <c:v>86.9</c:v>
                </c:pt>
                <c:pt idx="8">
                  <c:v>101.2</c:v>
                </c:pt>
                <c:pt idx="9">
                  <c:v>117.9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E21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E21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8E8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50" b="0" i="0" u="none" strike="noStrike">
                    <a:solidFill>
                      <a:srgbClr val="000000"/>
                    </a:solidFill>
                    <a:latin typeface="Arial"/>
                  </a:rPr>
                  <a:t>Revenue (₹ Cr)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F96167"/>
            </a:solidFill>
            <a:ln w="38100" cap="flat">
              <a:solidFill>
                <a:srgbClr val="F9616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65.3</c:v>
                </c:pt>
                <c:pt idx="1">
                  <c:v>43.3</c:v>
                </c:pt>
                <c:pt idx="2">
                  <c:v>43.2</c:v>
                </c:pt>
                <c:pt idx="3">
                  <c:v>46.9</c:v>
                </c:pt>
                <c:pt idx="4">
                  <c:v>65.3</c:v>
                </c:pt>
                <c:pt idx="5">
                  <c:v>53.6</c:v>
                </c:pt>
                <c:pt idx="6">
                  <c:v>72.6</c:v>
                </c:pt>
                <c:pt idx="7">
                  <c:v>107.4</c:v>
                </c:pt>
                <c:pt idx="8">
                  <c:v>69.5</c:v>
                </c:pt>
                <c:pt idx="9">
                  <c:v>9.1</c:v>
                </c:pt>
                <c:pt idx="10">
                  <c:v>48.2</c:v>
                </c:pt>
                <c:pt idx="11">
                  <c:v>89.6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21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8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Revenue (₹ Cr)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13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130"/>
                </a:solidFill>
                <a:latin typeface="Calibri"/>
              </a:rPr>
              <a:t>Artists by Genre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Artists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1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Bollywood</c:v>
                  </c:pt>
                  <c:pt idx="1">
                    <c:v>EDM</c:v>
                  </c:pt>
                  <c:pt idx="2">
                    <c:v>Classical/Bollywood</c:v>
                  </c:pt>
                  <c:pt idx="3">
                    <c:v>Hip-Hop</c:v>
                  </c:pt>
                  <c:pt idx="4">
                    <c:v>Int'l Pop</c:v>
                  </c:pt>
                  <c:pt idx="5">
                    <c:v>Punjabi</c:v>
                  </c:pt>
                  <c:pt idx="6">
                    <c:v>Rock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1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E21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631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7863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 FESTIVAL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 ARTIST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exploring, and visualizing revenue across 10 Indian music festivals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  •   Python   •   Power BI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Adnan Sajjad Makrani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92640" y="548640"/>
            <a:ext cx="2011680" cy="20116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0" y="2926080"/>
            <a:ext cx="1005840" cy="10058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0" y="4206240"/>
            <a:ext cx="548640" cy="548640"/>
          </a:xfrm>
          <a:prstGeom prst="ellipse">
            <a:avLst/>
          </a:prstGeom>
          <a:solidFill>
            <a:srgbClr val="6B78B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festival events, 10 headlining artists — one dataset, two tool stacks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62956" cy="1417320"/>
          </a:xfrm>
          <a:prstGeom prst="roundRect">
            <a:avLst>
              <a:gd name="adj" fmla="val 5161"/>
            </a:avLst>
          </a:prstGeom>
          <a:solidFill>
            <a:srgbClr val="FAFAFA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9339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4174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Standardize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304288"/>
            <a:ext cx="41742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mixed date formats, blank tour names, and missing price/attendance values normalized into an analysis-ready table.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77356" y="1737360"/>
            <a:ext cx="5362956" cy="1417320"/>
          </a:xfrm>
          <a:prstGeom prst="roundRect">
            <a:avLst>
              <a:gd name="adj" fmla="val 5161"/>
            </a:avLst>
          </a:prstGeom>
          <a:solidFill>
            <a:srgbClr val="FAFAFA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1676" y="199339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551676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91756" y="1920240"/>
            <a:ext cx="4174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Quantify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91756" y="2304288"/>
            <a:ext cx="41742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attendance, ticket pricing, and festival counts established as baseline metrics.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5362956" cy="1417320"/>
          </a:xfrm>
          <a:prstGeom prst="roundRect">
            <a:avLst>
              <a:gd name="adj" fmla="val 5161"/>
            </a:avLst>
          </a:prstGeom>
          <a:solidFill>
            <a:srgbClr val="FAFAFA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73075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657600"/>
            <a:ext cx="4174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&amp; Compare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041648"/>
            <a:ext cx="41742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Festivals, cities, and artists ranked by revenue, attendance, and pricing power.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77356" y="3474720"/>
            <a:ext cx="5362956" cy="1417320"/>
          </a:xfrm>
          <a:prstGeom prst="roundRect">
            <a:avLst>
              <a:gd name="adj" fmla="val 5161"/>
            </a:avLst>
          </a:prstGeom>
          <a:solidFill>
            <a:srgbClr val="FAFAFA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1676" y="373075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6551676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91756" y="3657600"/>
            <a:ext cx="41742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&amp; Grow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91756" y="4041648"/>
            <a:ext cx="41742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revenue growth tracked using window functions in SQL and pandas in Python.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Festival Revenue &amp; Artist Performance Analysis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raw CSVs, several real-world data quality problems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669280" cy="1280160"/>
        </p:xfrm>
        <a:graphic>
          <a:graphicData uri="http://schemas.openxmlformats.org/drawingml/2006/table">
            <a:tbl>
              <a:tblPr/>
              <a:tblGrid>
                <a:gridCol w="1920240"/>
                <a:gridCol w="640080"/>
                <a:gridCol w="310896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musicfestival.csv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Festival, city, date, headliner, ticket price, attendance,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Artist_Popularity_Data.csv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Genre, avg ticket price, followers, streaming plays, tour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issues handled during cleaning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3611880"/>
            <a:ext cx="5669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arrive in two formats: dd/mm/yyyy and dd-mm-yyyy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Tour_Name blank on ~60% of rows → labeled "Unknown Tour"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missing Ticket_Price and Total_Attendance values each → mean-imputed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Bryan Adams missing avg. attendance in the artist file → backfilled from festival data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duplicate festival records detected on (festival, city, date, headliner)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583680" y="1737360"/>
            <a:ext cx="5029200" cy="4526280"/>
          </a:xfrm>
          <a:prstGeom prst="roundRect">
            <a:avLst>
              <a:gd name="adj" fmla="val 2020"/>
            </a:avLst>
          </a:prstGeom>
          <a:solidFill>
            <a:srgbClr val="2F3C7E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0" y="20116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SNAPSHOT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949440" y="2514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686800" y="267919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records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949440" y="341071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8686800" y="357530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festivals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949440" y="430682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8686800" y="447141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headlining artists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49440" y="5202936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8686800" y="536752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covered (2024)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Festival Revenue &amp; Artist Performance Analysis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logic implemented in both MySQL and pandas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4871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dates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2697480"/>
            <a:ext cx="3726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41498" y="23774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2F3C7E"/>
          </a:solidFill>
          <a:ln/>
        </p:spPr>
      </p:sp>
      <p:sp>
        <p:nvSpPr>
          <p:cNvPr id="9" name="Text 7"/>
          <p:cNvSpPr/>
          <p:nvPr/>
        </p:nvSpPr>
        <p:spPr>
          <a:xfrm>
            <a:off x="2841498" y="24871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32938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missing values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1738" y="2697480"/>
            <a:ext cx="3726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34356" y="23774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5134356" y="24871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25796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data types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54596" y="2697480"/>
            <a:ext cx="3726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27214" y="23774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7427214" y="24871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18654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duplicates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47454" y="2697480"/>
            <a:ext cx="3726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720072" y="23774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9720072" y="24871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11512" y="2834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columns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side: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STR_TO_DATE with conditional parsing, UPDATE with correlated subqueries for imputation, ALTER TABLE for typing, ROW_NUMBER() for duplicate detection.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47091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side: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pandas.to_datetime with format detection, fillna() with column means, astype() conversion, duplicated() on the same composite key.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AFAFA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486400"/>
            <a:ext cx="10634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duplicates are detected but intentionally not auto-deleted — flagged for manual review before removal.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Festival Revenue &amp; Artist Performance Analysis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Numbers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105 festival events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567178" cy="2194560"/>
          </a:xfrm>
          <a:prstGeom prst="roundRect">
            <a:avLst>
              <a:gd name="adj" fmla="val 4167"/>
            </a:avLst>
          </a:prstGeom>
          <a:solidFill>
            <a:srgbClr val="26316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651760"/>
            <a:ext cx="256717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₹714 Cr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657600"/>
            <a:ext cx="22928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Generated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90138" y="2377440"/>
            <a:ext cx="2567178" cy="2194560"/>
          </a:xfrm>
          <a:prstGeom prst="roundRect">
            <a:avLst>
              <a:gd name="adj" fmla="val 4167"/>
            </a:avLst>
          </a:prstGeom>
          <a:solidFill>
            <a:srgbClr val="26316B"/>
          </a:solidFill>
          <a:ln/>
        </p:spPr>
      </p:sp>
      <p:sp>
        <p:nvSpPr>
          <p:cNvPr id="8" name="Text 6"/>
          <p:cNvSpPr/>
          <p:nvPr/>
        </p:nvSpPr>
        <p:spPr>
          <a:xfrm>
            <a:off x="3390138" y="2651760"/>
            <a:ext cx="256717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21.8 Lakh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27298" y="3657600"/>
            <a:ext cx="22928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Festival Attendance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1636" y="2377440"/>
            <a:ext cx="2567178" cy="2194560"/>
          </a:xfrm>
          <a:prstGeom prst="roundRect">
            <a:avLst>
              <a:gd name="adj" fmla="val 4167"/>
            </a:avLst>
          </a:prstGeom>
          <a:solidFill>
            <a:srgbClr val="26316B"/>
          </a:solidFill>
          <a:ln/>
        </p:spPr>
      </p:sp>
      <p:sp>
        <p:nvSpPr>
          <p:cNvPr id="11" name="Text 9"/>
          <p:cNvSpPr/>
          <p:nvPr/>
        </p:nvSpPr>
        <p:spPr>
          <a:xfrm>
            <a:off x="6231636" y="2651760"/>
            <a:ext cx="256717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₹2,910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68796" y="3657600"/>
            <a:ext cx="22928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Ticket Price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73134" y="2377440"/>
            <a:ext cx="2567178" cy="2194560"/>
          </a:xfrm>
          <a:prstGeom prst="roundRect">
            <a:avLst>
              <a:gd name="adj" fmla="val 4167"/>
            </a:avLst>
          </a:prstGeom>
          <a:solidFill>
            <a:srgbClr val="26316B"/>
          </a:solidFill>
          <a:ln/>
        </p:spPr>
      </p:sp>
      <p:sp>
        <p:nvSpPr>
          <p:cNvPr id="14" name="Text 12"/>
          <p:cNvSpPr/>
          <p:nvPr/>
        </p:nvSpPr>
        <p:spPr>
          <a:xfrm>
            <a:off x="9073134" y="2651760"/>
            <a:ext cx="256717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210294" y="3657600"/>
            <a:ext cx="22928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Festivals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9377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₹714 Cr = ₹7,140,870,233  |  21.8 Lakh = 2,183,877 attendees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Festival Revenue &amp; Artist Performance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Festivals by Revenue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Ziro Festival Arunachal leads, contributing 16% of all revenue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11091672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Festival Revenue &amp; Artist Performance Analysis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Performance by City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Goa, Jaipur, and Nagpur lead — Mumbai trails despite hosting festivals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11091672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Festival Revenue &amp; Artist Performance Analysis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Artists: Revenue vs. Ticket Price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ticket prices don't guarantee the highest total revenue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691640"/>
            <a:ext cx="4114800" cy="4663440"/>
          </a:xfrm>
          <a:prstGeom prst="roundRect">
            <a:avLst>
              <a:gd name="adj" fmla="val 2222"/>
            </a:avLst>
          </a:prstGeom>
          <a:solidFill>
            <a:srgbClr val="2F3C7E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920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AVG. TICKET PRICE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81812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 Snake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149840" y="2377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₹3,968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1812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Bryan Adams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149840" y="3154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₹3,722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1812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 Ghoshal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149840" y="3931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₹3,245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818120" y="4709160"/>
            <a:ext cx="3566160" cy="0"/>
          </a:xfrm>
          <a:prstGeom prst="line">
            <a:avLst/>
          </a:prstGeom>
          <a:noFill/>
          <a:ln w="12700">
            <a:solidFill>
              <a:srgbClr val="4451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8120" y="49377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9C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DJ Snake and Bryan Adams charge the most per ticket, yet neither tops total revenue — audience size and city matter more than price alone.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Festival Revenue &amp; Artist Performance Analysis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Revenue Trend (2024)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peaks, October dips — swings reflect small sample size per month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11091672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89788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E8E8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5897880"/>
            <a:ext cx="10634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growth ranged from –87% (Oct) to +430% (Nov) — a signal of a thin 105-row sample, not a real seasonal pattern.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Festival Revenue &amp; Artist Performance Analysis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Artist Popularity &amp; Genre Mix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reach doesn't track perfectly with touring revenue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5760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67512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STREAMING PLAYS (M)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7512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Sheeran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675120" y="2569464"/>
            <a:ext cx="4937760" cy="146304"/>
          </a:xfrm>
          <a:prstGeom prst="roundRect">
            <a:avLst>
              <a:gd name="adj" fmla="val 12500"/>
            </a:avLst>
          </a:prstGeom>
          <a:solidFill>
            <a:srgbClr val="E8E8EC"/>
          </a:solidFill>
          <a:ln/>
        </p:spPr>
      </p:sp>
      <p:sp>
        <p:nvSpPr>
          <p:cNvPr id="8" name="Shape 5"/>
          <p:cNvSpPr/>
          <p:nvPr/>
        </p:nvSpPr>
        <p:spPr>
          <a:xfrm>
            <a:off x="6675120" y="2569464"/>
            <a:ext cx="4937760" cy="146304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0" y="2240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67512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Arijit Singh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75120" y="3346704"/>
            <a:ext cx="4937760" cy="146304"/>
          </a:xfrm>
          <a:prstGeom prst="roundRect">
            <a:avLst>
              <a:gd name="adj" fmla="val 12500"/>
            </a:avLst>
          </a:prstGeom>
          <a:solidFill>
            <a:srgbClr val="E8E8EC"/>
          </a:solidFill>
          <a:ln/>
        </p:spPr>
      </p:sp>
      <p:sp>
        <p:nvSpPr>
          <p:cNvPr id="12" name="Shape 9"/>
          <p:cNvSpPr/>
          <p:nvPr/>
        </p:nvSpPr>
        <p:spPr>
          <a:xfrm>
            <a:off x="6675120" y="3346704"/>
            <a:ext cx="3918005" cy="146304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/>
        </p:spPr>
      </p:sp>
      <p:sp>
        <p:nvSpPr>
          <p:cNvPr id="13" name="Text 10"/>
          <p:cNvSpPr/>
          <p:nvPr/>
        </p:nvSpPr>
        <p:spPr>
          <a:xfrm>
            <a:off x="8503920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584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67512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Badshah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75120" y="4123944"/>
            <a:ext cx="4937760" cy="146304"/>
          </a:xfrm>
          <a:prstGeom prst="roundRect">
            <a:avLst>
              <a:gd name="adj" fmla="val 12500"/>
            </a:avLst>
          </a:prstGeom>
          <a:solidFill>
            <a:srgbClr val="E8E8EC"/>
          </a:solidFill>
          <a:ln/>
        </p:spPr>
      </p:sp>
      <p:sp>
        <p:nvSpPr>
          <p:cNvPr id="16" name="Shape 13"/>
          <p:cNvSpPr/>
          <p:nvPr/>
        </p:nvSpPr>
        <p:spPr>
          <a:xfrm>
            <a:off x="6675120" y="4123944"/>
            <a:ext cx="3240405" cy="146304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/>
        </p:spPr>
      </p:sp>
      <p:sp>
        <p:nvSpPr>
          <p:cNvPr id="17" name="Text 14"/>
          <p:cNvSpPr/>
          <p:nvPr/>
        </p:nvSpPr>
        <p:spPr>
          <a:xfrm>
            <a:off x="850392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675120" y="4572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 Singh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675120" y="4901184"/>
            <a:ext cx="4937760" cy="146304"/>
          </a:xfrm>
          <a:prstGeom prst="roundRect">
            <a:avLst>
              <a:gd name="adj" fmla="val 12500"/>
            </a:avLst>
          </a:prstGeom>
          <a:solidFill>
            <a:srgbClr val="E8E8EC"/>
          </a:solidFill>
          <a:ln/>
        </p:spPr>
      </p:sp>
      <p:sp>
        <p:nvSpPr>
          <p:cNvPr id="20" name="Shape 17"/>
          <p:cNvSpPr/>
          <p:nvPr/>
        </p:nvSpPr>
        <p:spPr>
          <a:xfrm>
            <a:off x="6675120" y="4901184"/>
            <a:ext cx="2884833" cy="146304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/>
        </p:spPr>
      </p:sp>
      <p:sp>
        <p:nvSpPr>
          <p:cNvPr id="21" name="Text 18"/>
          <p:cNvSpPr/>
          <p:nvPr/>
        </p:nvSpPr>
        <p:spPr>
          <a:xfrm>
            <a:off x="8503920" y="4572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430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675120" y="5349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 Snake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675120" y="5678424"/>
            <a:ext cx="4937760" cy="146304"/>
          </a:xfrm>
          <a:prstGeom prst="roundRect">
            <a:avLst>
              <a:gd name="adj" fmla="val 12500"/>
            </a:avLst>
          </a:prstGeom>
          <a:solidFill>
            <a:srgbClr val="E8E8EC"/>
          </a:solidFill>
          <a:ln/>
        </p:spPr>
      </p:sp>
      <p:sp>
        <p:nvSpPr>
          <p:cNvPr id="24" name="Shape 21"/>
          <p:cNvSpPr/>
          <p:nvPr/>
        </p:nvSpPr>
        <p:spPr>
          <a:xfrm>
            <a:off x="6675120" y="5678424"/>
            <a:ext cx="2878124" cy="146304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/>
        </p:spPr>
      </p:sp>
      <p:sp>
        <p:nvSpPr>
          <p:cNvPr id="25" name="Text 22"/>
          <p:cNvSpPr/>
          <p:nvPr/>
        </p:nvSpPr>
        <p:spPr>
          <a:xfrm>
            <a:off x="8503920" y="5349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675120" y="6126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10-artist sample; genre and streaming figures are directional, not statistically robust.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Festival Revenue &amp; Artist Performance Analysis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actually supports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26316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8483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4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177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concentrated: the top 5 of 10 festivals generate roughly two-thirds of total revenue — a small-portfolio dependency risk, not a diversified base.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26316B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13639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36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971800"/>
            <a:ext cx="10177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price and total revenue decouple: DJ Snake and Bryan Adams charge the most per ticket but rank 3rd–4th in total revenue; attendance and venue size drive the top line more than pricing power.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26316B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18795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87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4023360"/>
            <a:ext cx="10177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is noisy, not seasonal: with ~9 events/month on average, MoM swings of –87% to +430% reflect sample size, not a real calendar pattern — don't schedule around this data as-is.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26316B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523951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239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5074920"/>
            <a:ext cx="10177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conclusions need more data: only 10 artists span 7 genres, so genre-level takeaways (e.g. "Bollywood dominates") should be treated as directional only.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Festival Revenue &amp; Artist Performance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03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script, Python pipeline, Power BI dashboard, and cleaned datasets available on GitHub.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26316B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023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51760" y="402336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26316B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4023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402336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26316B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4023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Adnan Sajjad Makrani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— SQL · Python · Power BI · Excel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92640" y="548640"/>
            <a:ext cx="1828800" cy="18288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0" y="4114800"/>
            <a:ext cx="914400" cy="914400"/>
          </a:xfrm>
          <a:prstGeom prst="ellipse">
            <a:avLst/>
          </a:prstGeom>
          <a:solidFill>
            <a:srgbClr val="F9E79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2026-07-18T08:53:34Z</dcterms:created>
  <dcterms:modified xsi:type="dcterms:W3CDTF">2026-07-18T08:53:34Z</dcterms:modified>
</cp:coreProperties>
</file>